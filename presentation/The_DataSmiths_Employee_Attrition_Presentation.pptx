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C784"/>
              </a:solidFill>
              <a:effectLst/>
            </c:spPr>
          </c:dPt>
          <c:dPt>
            <c:idx val="1"/>
            <c:bubble3D val="0"/>
            <c:spPr>
              <a:solidFill>
                <a:srgbClr val="FF5C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</c:ser>
        <c:firstSliceAng val="270"/>
        <c:holeSize val="72"/>
      </c:doughnutChart>
      <c:spPr>
        <a:noFill/>
        <a:ln w="12700" cap="flat">
          <a:solidFill>
            <a:srgbClr val="0B1220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07E8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Overtime: Yes</c:v>
                  </c:pt>
                  <c:pt idx="1">
                    <c:v>Frequent travel</c:v>
                  </c:pt>
                  <c:pt idx="2">
                    <c:v>Sales rep</c:v>
                  </c:pt>
                  <c:pt idx="3">
                    <c:v>Overall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30.5</c:v>
                </c:pt>
                <c:pt idx="1">
                  <c:v>24.9</c:v>
                </c:pt>
                <c:pt idx="2">
                  <c:v>39.8</c:v>
                </c:pt>
                <c:pt idx="3">
                  <c:v>16.12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C784"/>
              </a:solidFill>
              <a:effectLst/>
            </c:spPr>
          </c:dPt>
          <c:dPt>
            <c:idx val="1"/>
            <c:bubble3D val="0"/>
            <c:spPr>
              <a:solidFill>
                <a:srgbClr val="FF5C7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1233</c:v>
                </c:pt>
                <c:pt idx="1">
                  <c:v>237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FF5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Overtime: Yes</c:v>
                  </c:pt>
                  <c:pt idx="1">
                    <c:v>Overtime: No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30.5</c:v>
                </c:pt>
                <c:pt idx="1">
                  <c:v>10.4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 travel</c:v>
                  </c:pt>
                  <c:pt idx="1">
                    <c:v>Rare travel</c:v>
                  </c:pt>
                  <c:pt idx="2">
                    <c:v>No travel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24.9</c:v>
                </c:pt>
                <c:pt idx="1">
                  <c:v>15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07E8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Sales Rep</c:v>
                  </c:pt>
                  <c:pt idx="1">
                    <c:v>Lab Technician</c:v>
                  </c:pt>
                  <c:pt idx="2">
                    <c:v>Human Resources</c:v>
                  </c:pt>
                  <c:pt idx="3">
                    <c:v>Sales Executive</c:v>
                  </c:pt>
                  <c:pt idx="4">
                    <c:v>Research Scientist</c:v>
                  </c:pt>
                  <c:pt idx="5">
                    <c:v>Overall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39.8</c:v>
                </c:pt>
                <c:pt idx="1">
                  <c:v>23.9</c:v>
                </c:pt>
                <c:pt idx="2">
                  <c:v>23.1</c:v>
                </c:pt>
                <c:pt idx="3">
                  <c:v>17.5</c:v>
                </c:pt>
                <c:pt idx="4">
                  <c:v>16.1</c:v>
                </c:pt>
                <c:pt idx="5">
                  <c:v>16.12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FF5C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Overtime</c:v>
                  </c:pt>
                  <c:pt idx="1">
                    <c:v>Lab Technician</c:v>
                  </c:pt>
                  <c:pt idx="2">
                    <c:v>Frequent Travel</c:v>
                  </c:pt>
                  <c:pt idx="3">
                    <c:v>Sales Rep</c:v>
                  </c:pt>
                  <c:pt idx="4">
                    <c:v>Single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1.602</c:v>
                </c:pt>
                <c:pt idx="1">
                  <c:v>1.522</c:v>
                </c:pt>
                <c:pt idx="2">
                  <c:v>1.391</c:v>
                </c:pt>
                <c:pt idx="3">
                  <c:v>1.058</c:v>
                </c:pt>
                <c:pt idx="4">
                  <c:v>0.834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6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magnitude</c:v>
                </c:pt>
              </c:strCache>
            </c:strRef>
          </c:tx>
          <c:spPr>
            <a:solidFill>
              <a:srgbClr val="07E8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Total Working Years</c:v>
                  </c:pt>
                  <c:pt idx="1">
                    <c:v>Manager Tenure</c:v>
                  </c:pt>
                  <c:pt idx="2">
                    <c:v>Environment Sat.</c:v>
                  </c:pt>
                  <c:pt idx="3">
                    <c:v>Job Satisfaction</c:v>
                  </c:pt>
                  <c:pt idx="4">
                    <c:v>Monthly Income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0.532</c:v>
                </c:pt>
                <c:pt idx="1">
                  <c:v>0.44</c:v>
                </c:pt>
                <c:pt idx="2">
                  <c:v>0.404</c:v>
                </c:pt>
                <c:pt idx="3">
                  <c:v>0.389</c:v>
                </c:pt>
                <c:pt idx="4">
                  <c:v>0.344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6D3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11480"/>
            <a:ext cx="2880360" cy="347472"/>
          </a:xfrm>
          <a:prstGeom prst="roundRect">
            <a:avLst>
              <a:gd name="adj" fmla="val 21429"/>
            </a:avLst>
          </a:prstGeom>
          <a:solidFill>
            <a:srgbClr val="07E817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11480"/>
            <a:ext cx="2880360" cy="347472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>
            <a:normAutofit/>
          </a:bodyPr>
          <a:lstStyle/>
          <a:p>
            <a:pPr algn="ctr"/>
            <a:r>
              <a:rPr sz="850" b="1">
                <a:solidFill>
                  <a:srgbClr val="000000"/>
                </a:solidFill>
                <a:latin typeface="Arial"/>
              </a:rPr>
              <a:t>CAPSTONE CLASSIFICATION PROJECT</a:t>
            </a:r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Predicting Employee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Attrition Risk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13232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HR Analytics Employee Attrition &amp; Performance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818120" y="1143000"/>
          <a:ext cx="3337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412480" y="2404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16.12%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503920" y="28803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5303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1,470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49808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records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5303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429000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97880" y="530352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897880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 / duplicates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23960" y="53035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823960" y="5806440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points to specific, addressable retention pressures.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Employees do not leave evenly across the workforce.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2084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pressure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66160" y="20848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Overtime employees show almost 3× the attrition rate of non-overtime employees.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9077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 pressure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88950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business travel is associated with the highest travel-related attrition.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7124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concentration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69417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Representative and Laboratory Technician roles carry the clearest role-level risk.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5171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44988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priority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66160" y="449884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matters because missed leavers are more costly than extra follow-up conversations.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1536192"/>
            <a:ext cx="0" cy="3300984"/>
          </a:xfrm>
          <a:prstGeom prst="line">
            <a:avLst/>
          </a:prstGeom>
          <a:noFill/>
          <a:ln w="38100">
            <a:solidFill>
              <a:srgbClr val="07E8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50876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28432" y="1856232"/>
            <a:ext cx="321868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model as an early-warning system, then combine it with targeted workload, travel and career-growth interventions.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498080" y="5166360"/>
          <a:ext cx="37947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/>
          <p:nvPr/>
        </p:nvSpPr>
        <p:spPr>
          <a:xfrm>
            <a:off x="502920" y="347472"/>
            <a:ext cx="11109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problem &amp; objective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530352" y="832104"/>
            <a:ext cx="987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A practical HR analytics problem: predict who may leave and explain why.</a:t>
            </a:r>
            <a:endParaRPr sz="1300">
              <a:solidFill>
                <a:srgbClr val="C6D3E1"/>
              </a:solidFill>
            </a:endParaRPr>
          </a:p>
        </p:txBody>
      </p:sp>
      <p:cxnSp>
        <p:nvCxnSpPr>
          <p:cNvPr id="77" name="Google Shape;77;p1"/>
          <p:cNvCxnSpPr/>
          <p:nvPr/>
        </p:nvCxnSpPr>
        <p:spPr>
          <a:xfrm>
            <a:off x="502920" y="1078992"/>
            <a:ext cx="1261800" cy="0"/>
          </a:xfrm>
          <a:prstGeom prst="straightConnector1">
            <a:avLst/>
          </a:prstGeom>
          <a:noFill/>
          <a:ln cap="flat" cmpd="sng" w="25400">
            <a:solidFill>
              <a:srgbClr val="07E8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"/>
          <p:cNvSpPr/>
          <p:nvPr/>
        </p:nvSpPr>
        <p:spPr>
          <a:xfrm>
            <a:off x="640080" y="1481328"/>
            <a:ext cx="6583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Attrition is not just a headcount issue. It affects continuity, recruitment cost, productivity and team knowledge.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"/>
          <p:cNvCxnSpPr/>
          <p:nvPr/>
        </p:nvCxnSpPr>
        <p:spPr>
          <a:xfrm>
            <a:off x="777240" y="2523744"/>
            <a:ext cx="0" cy="1014900"/>
          </a:xfrm>
          <a:prstGeom prst="straightConnector1">
            <a:avLst/>
          </a:prstGeom>
          <a:noFill/>
          <a:ln cap="flat" cmpd="sng" w="38100">
            <a:solidFill>
              <a:srgbClr val="07E8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"/>
          <p:cNvSpPr/>
          <p:nvPr/>
        </p:nvSpPr>
        <p:spPr>
          <a:xfrm>
            <a:off x="941832" y="2496312"/>
            <a:ext cx="294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 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941832" y="2843784"/>
            <a:ext cx="2944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Which employees are more likely to leave?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"/>
          <p:cNvCxnSpPr/>
          <p:nvPr/>
        </p:nvCxnSpPr>
        <p:spPr>
          <a:xfrm>
            <a:off x="4343400" y="2523744"/>
            <a:ext cx="0" cy="1014900"/>
          </a:xfrm>
          <a:prstGeom prst="straightConnector1">
            <a:avLst/>
          </a:prstGeom>
          <a:noFill/>
          <a:ln cap="flat" cmpd="sng" w="381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"/>
          <p:cNvSpPr/>
          <p:nvPr/>
        </p:nvSpPr>
        <p:spPr>
          <a:xfrm>
            <a:off x="4507992" y="2496312"/>
            <a:ext cx="294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 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4507992" y="2843784"/>
            <a:ext cx="2944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Which factors are most associated with turnover?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7909560" y="2523744"/>
            <a:ext cx="0" cy="1014900"/>
          </a:xfrm>
          <a:prstGeom prst="straightConnector1">
            <a:avLst/>
          </a:prstGeom>
          <a:noFill/>
          <a:ln cap="flat" cmpd="sng" w="38100">
            <a:solidFill>
              <a:srgbClr val="F9C7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>
            <a:off x="8074152" y="2496312"/>
            <a:ext cx="317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 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074152" y="2843784"/>
            <a:ext cx="3173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What retention actions should the organization prioritize?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1234440" y="4114800"/>
            <a:ext cx="9601200" cy="0"/>
          </a:xfrm>
          <a:prstGeom prst="straightConnector1">
            <a:avLst/>
          </a:prstGeom>
          <a:noFill/>
          <a:ln cap="flat" cmpd="sng" w="25400">
            <a:solidFill>
              <a:srgbClr val="24304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"/>
          <p:cNvSpPr/>
          <p:nvPr/>
        </p:nvSpPr>
        <p:spPr>
          <a:xfrm>
            <a:off x="960120" y="3749040"/>
            <a:ext cx="658500" cy="658500"/>
          </a:xfrm>
          <a:prstGeom prst="ellipse">
            <a:avLst/>
          </a:prstGeom>
          <a:solidFill>
            <a:srgbClr val="07E81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9601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7772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72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Find patterns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703320" y="3749040"/>
            <a:ext cx="658500" cy="658500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7033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35204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32004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Predict risk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6446520" y="3749040"/>
            <a:ext cx="658500" cy="658500"/>
          </a:xfrm>
          <a:prstGeom prst="ellipse">
            <a:avLst/>
          </a:prstGeom>
          <a:solidFill>
            <a:srgbClr val="F9C74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64465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62636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59436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Explain drivers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9189720" y="3749040"/>
            <a:ext cx="658500" cy="658500"/>
          </a:xfrm>
          <a:prstGeom prst="ellipse">
            <a:avLst/>
          </a:prstGeom>
          <a:solidFill>
            <a:srgbClr val="FF5C7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9189720" y="3913632"/>
            <a:ext cx="65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9006840" y="4553712"/>
            <a:ext cx="10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8686800" y="4901184"/>
            <a:ext cx="164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6D3E1"/>
                </a:solidFill>
                <a:latin typeface="Arial"/>
                <a:ea typeface="Arial"/>
                <a:cs typeface="Arial"/>
                <a:sym typeface="Arial"/>
              </a:rPr>
              <a:t>Reduce attrition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530352" y="6528816"/>
            <a:ext cx="694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091A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091A7"/>
                </a:solidFill>
                <a:latin typeface="Arial"/>
                <a:ea typeface="Arial"/>
                <a:cs typeface="Arial"/>
                <a:sym typeface="Arial"/>
              </a:rPr>
              <a:t>The DataSmiths  |  IBM HR Analytics Employee Attrition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1109960" y="6492240"/>
            <a:ext cx="50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7E81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7E81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prepared a clean, model-ready dataset before building the classifier.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7E8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/ employee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4173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8A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0632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columns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57800" y="14173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578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141732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rows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3957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non-informative fields: EmployeeCount, Over18, StandardHours and EmployeeNumber.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4884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069080"/>
            <a:ext cx="932688" cy="0"/>
          </a:xfrm>
          <a:prstGeom prst="line">
            <a:avLst/>
          </a:prstGeom>
          <a:noFill/>
          <a:ln w="25400">
            <a:solidFill>
              <a:srgbClr val="24304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&amp; 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missing/duplicates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409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7238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patterns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role, workload &amp; demographics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7492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293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2122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target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one-hot categorical features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2376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&amp; 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7006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models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72600" y="333756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2430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0616" y="35478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18904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drivers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recommendations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Attrition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is imbalanced, so evaluation must look beyond accuracy.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22960" y="1463040"/>
          <a:ext cx="4023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691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C78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83.88% stayed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596128" y="2176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1,233 employees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29260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C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16.12% left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596128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237 employees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4279392"/>
            <a:ext cx="0" cy="1106424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4251960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implication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2432" y="4599432"/>
            <a:ext cx="5047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that predicts “no attrition” for everyone would appear accurate, but would fail the business objective. Recall and F1-score matter.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workload and travel signals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rises sharply where work pressure and mobility demands increase.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444752"/>
          <a:ext cx="48920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00800" y="1444752"/>
          <a:ext cx="48006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77240" y="4187952"/>
            <a:ext cx="0" cy="1106424"/>
          </a:xfrm>
          <a:prstGeom prst="line">
            <a:avLst/>
          </a:prstGeom>
          <a:noFill/>
          <a:ln w="38100">
            <a:solidFill>
              <a:srgbClr val="FF5C7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41832" y="41605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signal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41832" y="4507992"/>
            <a:ext cx="4407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working overtime have a 30.5% attrition rate versus 10.4% for those not working overtime.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92240" y="4187952"/>
            <a:ext cx="0" cy="1106424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56832" y="41605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signal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656832" y="4507992"/>
            <a:ext cx="44074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travelers have the highest travel-related attrition rate at 24.9%.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EDA: role-level risk concentration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Attrition is highest in specific job roles, not evenly distributed across the organization.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417320"/>
          <a:ext cx="6583680" cy="4315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627632"/>
            <a:ext cx="0" cy="1152144"/>
          </a:xfrm>
          <a:prstGeom prst="line">
            <a:avLst/>
          </a:prstGeom>
          <a:noFill/>
          <a:ln w="38100">
            <a:solidFill>
              <a:srgbClr val="07E8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91272" y="160020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risk role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91272" y="1947672"/>
            <a:ext cx="32186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Representatives have the highest role-level attrition rate at 39.8%.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182112"/>
            <a:ext cx="0" cy="1472184"/>
          </a:xfrm>
          <a:prstGeom prst="line">
            <a:avLst/>
          </a:prstGeom>
          <a:noFill/>
          <a:ln w="38100">
            <a:solidFill>
              <a:srgbClr val="F9C7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91272" y="315468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meaning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91272" y="3502152"/>
            <a:ext cx="321868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should be targeted. A single company-wide intervention may miss the teams where attrition is most concentrated.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approach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model balances predictive performance with interpretability.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+ constant fields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91640" y="2468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categorical variables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691640" y="30632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variables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91640" y="3657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split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490472"/>
            <a:ext cx="201168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15" name="Text 13"/>
          <p:cNvSpPr/>
          <p:nvPr/>
        </p:nvSpPr>
        <p:spPr>
          <a:xfrm>
            <a:off x="4663440" y="15636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629400" y="1490472"/>
            <a:ext cx="109728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17" name="Text 15"/>
          <p:cNvSpPr/>
          <p:nvPr/>
        </p:nvSpPr>
        <p:spPr>
          <a:xfrm>
            <a:off x="6675120" y="1563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7726680" y="1490472"/>
            <a:ext cx="109728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19" name="Text 17"/>
          <p:cNvSpPr/>
          <p:nvPr/>
        </p:nvSpPr>
        <p:spPr>
          <a:xfrm>
            <a:off x="7772400" y="1563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823960" y="1490472"/>
            <a:ext cx="91440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1" name="Text 19"/>
          <p:cNvSpPr/>
          <p:nvPr/>
        </p:nvSpPr>
        <p:spPr>
          <a:xfrm>
            <a:off x="8869680" y="15636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738360" y="1490472"/>
            <a:ext cx="1143000" cy="384048"/>
          </a:xfrm>
          <a:prstGeom prst="rect">
            <a:avLst/>
          </a:prstGeom>
          <a:solidFill>
            <a:srgbClr val="07E81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3" name="Text 21"/>
          <p:cNvSpPr/>
          <p:nvPr/>
        </p:nvSpPr>
        <p:spPr>
          <a:xfrm>
            <a:off x="9784080" y="15636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617720" y="1874520"/>
            <a:ext cx="20116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5" name="Text 23"/>
          <p:cNvSpPr/>
          <p:nvPr/>
        </p:nvSpPr>
        <p:spPr>
          <a:xfrm>
            <a:off x="4663440" y="19476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629400" y="1874520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7" name="Text 25"/>
          <p:cNvSpPr/>
          <p:nvPr/>
        </p:nvSpPr>
        <p:spPr>
          <a:xfrm>
            <a:off x="6675120" y="1947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0.780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726680" y="1874520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29" name="Text 27"/>
          <p:cNvSpPr/>
          <p:nvPr/>
        </p:nvSpPr>
        <p:spPr>
          <a:xfrm>
            <a:off x="7772400" y="1947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823960" y="1874520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1" name="Text 29"/>
          <p:cNvSpPr/>
          <p:nvPr/>
        </p:nvSpPr>
        <p:spPr>
          <a:xfrm>
            <a:off x="8869680" y="19476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0.491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738360" y="1874520"/>
            <a:ext cx="11430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3" name="Text 31"/>
          <p:cNvSpPr/>
          <p:nvPr/>
        </p:nvSpPr>
        <p:spPr>
          <a:xfrm>
            <a:off x="9784080" y="19476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0.805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617720" y="2258568"/>
            <a:ext cx="20116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5" name="Text 33"/>
          <p:cNvSpPr/>
          <p:nvPr/>
        </p:nvSpPr>
        <p:spPr>
          <a:xfrm>
            <a:off x="4663440" y="23317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629400" y="2258568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7" name="Text 35"/>
          <p:cNvSpPr/>
          <p:nvPr/>
        </p:nvSpPr>
        <p:spPr>
          <a:xfrm>
            <a:off x="6675120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0.832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7726680" y="2258568"/>
            <a:ext cx="109728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39" name="Text 37"/>
          <p:cNvSpPr/>
          <p:nvPr/>
        </p:nvSpPr>
        <p:spPr>
          <a:xfrm>
            <a:off x="7772400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0.322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8823960" y="2258568"/>
            <a:ext cx="9144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1" name="Text 39"/>
          <p:cNvSpPr/>
          <p:nvPr/>
        </p:nvSpPr>
        <p:spPr>
          <a:xfrm>
            <a:off x="8869680" y="23317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0.380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9738360" y="2258568"/>
            <a:ext cx="1143000" cy="384048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3" name="Text 41"/>
          <p:cNvSpPr/>
          <p:nvPr/>
        </p:nvSpPr>
        <p:spPr>
          <a:xfrm>
            <a:off x="9784080" y="23317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0.765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6177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 — Logistic Regression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63440" y="3703320"/>
            <a:ext cx="13716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6" name="Text 44"/>
          <p:cNvSpPr/>
          <p:nvPr/>
        </p:nvSpPr>
        <p:spPr>
          <a:xfrm>
            <a:off x="4709160" y="377647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035040" y="3703320"/>
            <a:ext cx="100584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48" name="Text 46"/>
          <p:cNvSpPr/>
          <p:nvPr/>
        </p:nvSpPr>
        <p:spPr>
          <a:xfrm>
            <a:off x="6080760" y="37764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Pred: Stay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7040880" y="3703320"/>
            <a:ext cx="11430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0" name="Text 48"/>
          <p:cNvSpPr/>
          <p:nvPr/>
        </p:nvSpPr>
        <p:spPr>
          <a:xfrm>
            <a:off x="7086600" y="377647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Pred: Leave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663440" y="4096512"/>
            <a:ext cx="13716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2" name="Text 50"/>
          <p:cNvSpPr/>
          <p:nvPr/>
        </p:nvSpPr>
        <p:spPr>
          <a:xfrm>
            <a:off x="4709160" y="41696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Stay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6035040" y="4096512"/>
            <a:ext cx="100584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4" name="Text 52"/>
          <p:cNvSpPr/>
          <p:nvPr/>
        </p:nvSpPr>
        <p:spPr>
          <a:xfrm>
            <a:off x="6080760" y="416966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248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7040880" y="4096512"/>
            <a:ext cx="11430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6" name="Text 54"/>
          <p:cNvSpPr/>
          <p:nvPr/>
        </p:nvSpPr>
        <p:spPr>
          <a:xfrm>
            <a:off x="7086600" y="416966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4663440" y="4489704"/>
            <a:ext cx="13716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58" name="Text 56"/>
          <p:cNvSpPr/>
          <p:nvPr/>
        </p:nvSpPr>
        <p:spPr>
          <a:xfrm>
            <a:off x="4709160" y="45628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Leave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6035040" y="4489704"/>
            <a:ext cx="100584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60" name="Text 58"/>
          <p:cNvSpPr/>
          <p:nvPr/>
        </p:nvSpPr>
        <p:spPr>
          <a:xfrm>
            <a:off x="6080760" y="456285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80" dirty="0"/>
          </a:p>
        </p:txBody>
      </p:sp>
      <p:sp>
        <p:nvSpPr>
          <p:cNvPr id="61" name="Shape 59"/>
          <p:cNvSpPr/>
          <p:nvPr/>
        </p:nvSpPr>
        <p:spPr>
          <a:xfrm>
            <a:off x="7040880" y="4489704"/>
            <a:ext cx="1143000" cy="393192"/>
          </a:xfrm>
          <a:prstGeom prst="rect">
            <a:avLst/>
          </a:prstGeom>
          <a:solidFill>
            <a:srgbClr val="111827"/>
          </a:solidFill>
          <a:ln w="6350">
            <a:solidFill>
              <a:srgbClr val="243041"/>
            </a:solidFill>
            <a:prstDash val="solid"/>
          </a:ln>
        </p:spPr>
        <p:txBody>
          <a:bodyPr/>
          <a:p>
            <a:pPr algn="ctr"/>
          </a:p>
        </p:txBody>
      </p:sp>
      <p:sp>
        <p:nvSpPr>
          <p:cNvPr id="62" name="Text 60"/>
          <p:cNvSpPr/>
          <p:nvPr/>
        </p:nvSpPr>
        <p:spPr>
          <a:xfrm>
            <a:off x="7086600" y="4562856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F9F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80" dirty="0"/>
          </a:p>
        </p:txBody>
      </p:sp>
      <p:sp>
        <p:nvSpPr>
          <p:cNvPr id="63" name="Shape 61"/>
          <p:cNvSpPr/>
          <p:nvPr/>
        </p:nvSpPr>
        <p:spPr>
          <a:xfrm>
            <a:off x="8732520" y="3547872"/>
            <a:ext cx="0" cy="1380744"/>
          </a:xfrm>
          <a:prstGeom prst="line">
            <a:avLst/>
          </a:prstGeom>
          <a:noFill/>
          <a:ln w="38100">
            <a:solidFill>
              <a:srgbClr val="07E817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897112" y="35204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Logistic Regression?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897112" y="3867912"/>
            <a:ext cx="22128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gives the strongest recall and ROC-AUC here, while making the risk drivers easier to explain to HR decision-makers.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8" name="Rectangle 67"/>
          <p:cNvSpPr/>
          <p:nvPr/>
        </p:nvSpPr>
        <p:spPr>
          <a:xfrm>
            <a:off x="4617720" y="2642616"/>
            <a:ext cx="201168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620" b="1">
                <a:solidFill>
                  <a:srgbClr val="F9F9F9"/>
                </a:solidFill>
                <a:latin typeface="Arial"/>
              </a:rPr>
              <a:t>Decision Tree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29400" y="2642616"/>
            <a:ext cx="109728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0.769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26679" y="2642616"/>
            <a:ext cx="109728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0.475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23960" y="2642616"/>
            <a:ext cx="91440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0.373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38360" y="2642616"/>
            <a:ext cx="1143000" cy="384048"/>
          </a:xfrm>
          <a:prstGeom prst="rect">
            <a:avLst/>
          </a:prstGeom>
          <a:solidFill>
            <a:srgbClr val="111827"/>
          </a:solidFill>
          <a:ln>
            <a:solidFill>
              <a:srgbClr val="243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620" b="0">
                <a:solidFill>
                  <a:srgbClr val="F9F9F9"/>
                </a:solidFill>
                <a:latin typeface="Arial"/>
              </a:rPr>
              <a:t>0.655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the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drivers reinforce what the EDA suggested.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risk-increasing coefficients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1737360"/>
          <a:ext cx="4983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protective signals</a:t>
            </a:r>
            <a:endParaRPr lang="en-US" sz="14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737360"/>
          <a:ext cx="4983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77240" y="56692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workload, travel and role context increase risk; experience, satisfaction and income-related stability reduce risk.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321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analysis into a practical retention program.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261872" cy="0"/>
          </a:xfrm>
          <a:prstGeom prst="line">
            <a:avLst/>
          </a:prstGeom>
          <a:noFill/>
          <a:ln w="25400">
            <a:solidFill>
              <a:srgbClr val="07E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overtime risk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013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overtime-heavy teams; rotate workload; flag sustained overtime before it becomes resignation risk.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frequent travelers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5387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travel expectations, recovery time, allowances and manager check-ins for frequent travelers.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high-risk roles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8013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Sales Representatives, Laboratory Technicians and HR roles where attrition is concentrated.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31272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early-career retention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35387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6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onboarding, growth conversations, job satisfaction and manager support for younger/lower-income employees.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DataSmiths  |  IBM HR Analytics Employee Attrition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7E8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